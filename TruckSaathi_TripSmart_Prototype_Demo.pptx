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2606040"/>
            <a:ext cx="91440" cy="18288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65176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TruckSaathi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24612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8C28"/>
                </a:solidFill>
                <a:latin typeface="Calibri"/>
              </a:rPr>
              <a:t>TripSmart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886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BBF"/>
                </a:solidFill>
                <a:latin typeface="Calibri"/>
              </a:rPr>
              <a:t>Intelligent Freight Matching
for Bharat's Truckers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084"/>
                </a:solidFill>
                <a:latin typeface="Calibri"/>
              </a:rPr>
              <a:t>Tutorial Activity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7315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1A1F36"/>
                </a:solidFill>
                <a:latin typeface="Calibri"/>
              </a:rPr>
              <a:t>Development &amp; Demonstration
of a Prototype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200400"/>
            <a:ext cx="7315200" cy="254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3375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084"/>
                </a:solidFill>
                <a:latin typeface="Calibri"/>
              </a:rPr>
              <a:t>MHN 205   Entrepreneurship &amp; New Venture Creation</a:t>
            </a:r>
          </a:p>
          <a:p>
            <a:pPr algn="l"/>
            <a:r>
              <a:rPr sz="1300" b="0">
                <a:solidFill>
                  <a:srgbClr val="6B7084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Evaluation Period :   27 - 30 October 2026</a:t>
            </a:r>
          </a:p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Total Marks :   10  (Team 5 + Individual 5)</a:t>
            </a:r>
          </a:p>
          <a:p>
            <a:pPr algn="l"/>
            <a:r>
              <a:rPr sz="1300" b="0">
                <a:solidFill>
                  <a:srgbClr val="6B7084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Prototype Format :   Digital Prototype / Working 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4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183112" cy="381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F36"/>
                </a:solidFill>
                <a:latin typeface="Calibri"/>
              </a:rPr>
              <a:t>01  Problem Statement &amp;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084"/>
                </a:solidFill>
                <a:latin typeface="Calibri"/>
              </a:rPr>
              <a:t>The pain point we solve -- and how we solve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4"/>
                </a:solidFill>
                <a:latin typeface="Calibri"/>
              </a:rPr>
              <a:t>2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224028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6400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Empty Return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25146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~70% of trucks travel back empty. Massive fuel &amp; revenue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371600"/>
            <a:ext cx="2743200" cy="224028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371600"/>
            <a:ext cx="2743200" cy="6400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Broker-Dependent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901952"/>
            <a:ext cx="25146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No pricing transparency. Shippers overcharged, truckers underpaid.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21608"/>
            <a:ext cx="2743200" cy="224028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21608"/>
            <a:ext cx="2743200" cy="6400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5876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Zero Shipment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25146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No live tracking for shippers. No load pipeline for truckers.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4992" y="3721608"/>
            <a:ext cx="2743200" cy="224028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4992" y="3721608"/>
            <a:ext cx="2743200" cy="6400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385876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Language &amp; Tech Barrier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4251960"/>
            <a:ext cx="25146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Existing apps are English-only -- Tier 2/3 operators are locked 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371600"/>
            <a:ext cx="19050" cy="5166360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3716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C28"/>
                </a:solidFill>
                <a:latin typeface="Calibri"/>
              </a:rPr>
              <a:t>Our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737360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F36"/>
                </a:solidFill>
                <a:latin typeface="Calibri"/>
              </a:rPr>
              <a:t>TruckSaathi TripSmart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33172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A bilingual (English / Hindi) freight-matching platform that directly
connects shippers with truck operators -- cutting out brokers, reducing
empty return runs, and bringing transparency to India's truck economy.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20440"/>
            <a:ext cx="128016" cy="12801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429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Post loads in &lt; 60 sec  --  get ranked truck matches instantly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959352"/>
            <a:ext cx="128016" cy="12801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867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Real-time fare estimate before booking  --  no hidden charges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398264"/>
            <a:ext cx="128016" cy="12801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3068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Live shipment tracking on OpenStreetMap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837176"/>
            <a:ext cx="128016" cy="12801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457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Return-load offers push to transporters after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276088"/>
            <a:ext cx="128016" cy="12801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846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Full English / Hindi toggle across every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183112" cy="381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F36"/>
                </a:solidFill>
                <a:latin typeface="Calibri"/>
              </a:rPr>
              <a:t>02  Prototype Type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084"/>
                </a:solidFill>
                <a:latin typeface="Calibri"/>
              </a:rPr>
              <a:t>Fidelity level chosen and the reasoning behind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4"/>
                </a:solidFill>
                <a:latin typeface="Calibri"/>
              </a:rPr>
              <a:t>3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246120" cy="3703320"/>
          </a:xfrm>
          <a:prstGeom prst="rect">
            <a:avLst/>
          </a:prstGeom>
          <a:solidFill>
            <a:srgbClr val="CCC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4612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246120" cy="731520"/>
          </a:xfrm>
          <a:prstGeom prst="rect">
            <a:avLst/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  <a:latin typeface="Calibri"/>
              </a:rPr>
              <a:t>LOW
FIDELITY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0428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Basic sketches or rough
models. Abstract concepts.
Used for initial exploration
and quick iterations.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4488" y="1508760"/>
            <a:ext cx="3246120" cy="3703320"/>
          </a:xfrm>
          <a:prstGeom prst="rect">
            <a:avLst/>
          </a:prstGeom>
          <a:solidFill>
            <a:srgbClr val="CCC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58768" y="1463040"/>
            <a:ext cx="324612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58768" y="1463040"/>
            <a:ext cx="3246120" cy="731520"/>
          </a:xfrm>
          <a:prstGeom prst="rect">
            <a:avLst/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5087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  <a:latin typeface="Calibri"/>
              </a:rPr>
              <a:t>MEDIUM
FIDELITY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30428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Wireframes, basic digital
models, partially functional.
Used for testing interactions
and initial user feedback.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508760"/>
            <a:ext cx="3246120" cy="3703320"/>
          </a:xfrm>
          <a:prstGeom prst="rect">
            <a:avLst/>
          </a:prstGeom>
          <a:solidFill>
            <a:srgbClr val="CCC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463040"/>
            <a:ext cx="3246120" cy="3703320"/>
          </a:xfrm>
          <a:prstGeom prst="rect">
            <a:avLst/>
          </a:prstGeom>
          <a:solidFill>
            <a:srgbClr val="F4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6" y="1463040"/>
            <a:ext cx="3246120" cy="731520"/>
          </a:xfrm>
          <a:prstGeom prst="rect">
            <a:avLst/>
          </a:prstGeom>
          <a:solidFill>
            <a:srgbClr val="3A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5087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HIGH
FIDELITY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30428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Closely resembles the final
solution. Fully functional.
Used for comprehensive
testing &amp; stakeholder
presentation.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4754880"/>
            <a:ext cx="3246120" cy="411480"/>
          </a:xfrm>
          <a:prstGeom prst="rect">
            <a:avLst/>
          </a:prstGeom>
          <a:solidFill>
            <a:srgbClr val="3A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47731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OUR PROTOTYPE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85232"/>
            <a:ext cx="11274552" cy="1298448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4132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8C28"/>
                </a:solidFill>
                <a:latin typeface="Calibri"/>
              </a:rPr>
              <a:t>Why High Fidelity?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06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Our prototype is a fully functional React + Express web application with a live SQLite database,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real API endpoints, end-to-end booking &amp; tracking flows, and a bilingual interface --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it closely resembles the final deployable product, enabling real user-flow testing and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comprehensive stakeholder evaluation without needing expensive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183112" cy="381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F36"/>
                </a:solidFill>
                <a:latin typeface="Calibri"/>
              </a:rPr>
              <a:t>03  Prototype Architecture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084"/>
                </a:solidFill>
                <a:latin typeface="Calibri"/>
              </a:rPr>
              <a:t>How it is built and what it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4"/>
                </a:solidFill>
                <a:latin typeface="Calibri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8C28"/>
                </a:solidFill>
                <a:latin typeface="Calibri"/>
              </a:rPr>
              <a:t>Technical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1024128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82880" cy="102412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84708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React + Vite SPA; bilingual context; shipper &amp; transporter flows.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07208"/>
            <a:ext cx="5486400" cy="1024128"/>
          </a:xfrm>
          <a:prstGeom prst="rect">
            <a:avLst/>
          </a:prstGeom>
          <a:solidFill>
            <a:srgbClr val="E5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07208"/>
            <a:ext cx="182880" cy="102412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Business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1693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Haversine distance, fare, capacity scoring, CO2 -- matching.ts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77056"/>
            <a:ext cx="5486400" cy="1024128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77056"/>
            <a:ext cx="182880" cy="102412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684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86784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Express.js REST endpoints; trips, loads, ratings, notifications.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46904"/>
            <a:ext cx="5486400" cy="1024128"/>
          </a:xfrm>
          <a:prstGeom prst="rect">
            <a:avLst/>
          </a:prstGeom>
          <a:solidFill>
            <a:srgbClr val="E5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46904"/>
            <a:ext cx="182880" cy="1024128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3834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Data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056632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SQLite; seeded cities, trucks, routes; reset with: npm run seed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080760"/>
            <a:ext cx="5486400" cy="4572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126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React  |  TypeScript  |  Vite  |  Express  |  SQLite  |  OpenStreetMap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353312"/>
            <a:ext cx="19050" cy="5184648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8C28"/>
                </a:solidFill>
                <a:latin typeface="Calibri"/>
              </a:rPr>
              <a:t>Key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1810512"/>
            <a:ext cx="64008" cy="4572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7922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Bilingual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7922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English / Hindi toggle across every screen and component.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651760"/>
            <a:ext cx="64008" cy="4572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6334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Smart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6334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Trucks ranked by distance, cargo type &amp; availability score.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93008"/>
            <a:ext cx="64008" cy="4572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474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Transparent Pricing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474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Real-time fare estimate before booking. Zero broker opacity.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334256"/>
            <a:ext cx="64008" cy="4572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Live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3159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Real-time marker on OpenStreetMap with speed-up demo mode.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5175504"/>
            <a:ext cx="64008" cy="4572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51572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Backhaul Offers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1572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Return-load push to transporters -- eliminates empty running.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6016752"/>
            <a:ext cx="64008" cy="4572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9984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Impact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9984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CO2 saved, fuel efficiency &amp; tonnes moved shown 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183112" cy="381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F36"/>
                </a:solidFill>
                <a:latin typeface="Calibri"/>
              </a:rPr>
              <a:t>04  Business Model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4"/>
                </a:solidFill>
                <a:latin typeface="Calibri"/>
              </a:rPr>
              <a:t>5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303520" cy="523951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C28"/>
                </a:solidFill>
                <a:latin typeface="Calibri"/>
              </a:rPr>
              <a:t>Revenue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0824"/>
            <a:ext cx="73152" cy="420624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Commission per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CCC"/>
                </a:solidFill>
                <a:latin typeface="Calibri"/>
              </a:rPr>
              <a:t>2-4% of freight value on every matched &amp; confirmed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80944"/>
            <a:ext cx="73152" cy="420624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 Subscription (Fleet)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CCC"/>
                </a:solidFill>
                <a:latin typeface="Calibri"/>
              </a:rPr>
              <a:t>Monthly plan for fleet operators -- priority matching + analytics.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41064"/>
            <a:ext cx="73152" cy="420624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Premium 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233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CCC"/>
                </a:solidFill>
                <a:latin typeface="Calibri"/>
              </a:rPr>
              <a:t>Sponsored placement for verified transporters in search results.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901184"/>
            <a:ext cx="73152" cy="420624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1937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CCC"/>
                </a:solidFill>
                <a:latin typeface="Calibri"/>
              </a:rPr>
              <a:t>Anonymised freight flow data licensed to logistics enterprises.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298448"/>
            <a:ext cx="2834640" cy="246888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298448"/>
            <a:ext cx="2834640" cy="8229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F36"/>
                </a:solidFill>
                <a:latin typeface="Calibri"/>
              </a:rPr>
              <a:t>Rs. 2,400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5000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084"/>
                </a:solidFill>
                <a:latin typeface="Calibri"/>
              </a:rPr>
              <a:t>Avg. savings
per trip (trucker)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1298448"/>
            <a:ext cx="2834640" cy="246888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7696" y="1298448"/>
            <a:ext cx="2834640" cy="8229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F36"/>
                </a:solidFill>
                <a:latin typeface="Calibri"/>
              </a:rPr>
              <a:t>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35000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084"/>
                </a:solidFill>
                <a:latin typeface="Calibri"/>
              </a:rPr>
              <a:t>Reduction in
empty return runs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895344"/>
            <a:ext cx="2834640" cy="246888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3895344"/>
            <a:ext cx="2834640" cy="8229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078224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F36"/>
                </a:solidFill>
                <a:latin typeface="Calibri"/>
              </a:rPr>
              <a:t>210 kg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946904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084"/>
                </a:solidFill>
                <a:latin typeface="Calibri"/>
              </a:rPr>
              <a:t>CO2 avoided per
optimised trip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97696" y="3895344"/>
            <a:ext cx="2834640" cy="246888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97696" y="3895344"/>
            <a:ext cx="2834640" cy="82296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89136" y="4078224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F36"/>
                </a:solidFill>
                <a:latin typeface="Calibri"/>
              </a:rPr>
              <a:t>4.6 /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4946904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084"/>
                </a:solidFill>
                <a:latin typeface="Calibri"/>
              </a:rPr>
              <a:t>Platform trust
rating (seeded)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806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084"/>
                </a:solidFill>
                <a:latin typeface="Calibri"/>
              </a:rPr>
              <a:t>Target market:  India's 9 million+ truck operators and 2+ million shippers across Tier 1-3 cities.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183112" cy="3810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F36"/>
                </a:solidFill>
                <a:latin typeface="Calibri"/>
              </a:rPr>
              <a:t>05  Validation, Next Steps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4"/>
                </a:solidFill>
                <a:latin typeface="Calibri"/>
              </a:rPr>
              <a:t>6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303520" cy="38862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Calibri"/>
              </a:rPr>
              <a:t>What Our Prototype Validates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59"/>
            <a:ext cx="137160" cy="13716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Full shipper booking flow completed in under 60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23159"/>
            <a:ext cx="137160" cy="13716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17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Matching algorithm ranks trucks by distance, load &amp; availability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80359"/>
            <a:ext cx="137160" cy="13716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Bilingual toggle works across all routes &amp;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337559"/>
            <a:ext cx="137160" cy="13716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461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Transporter accepts / declines loads; DB updates in real-time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94759"/>
            <a:ext cx="137160" cy="13716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All API mutations persist to SQLite (trips, events, ratings)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251959"/>
            <a:ext cx="137160" cy="13716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60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Impact metrics computed dynamically per trip weight &amp; distance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298448"/>
            <a:ext cx="19050" cy="3886200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8C28"/>
                </a:solidFill>
                <a:latin typeface="Calibri"/>
              </a:rPr>
              <a:t>Phase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21991"/>
            <a:ext cx="19050" cy="438912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956815"/>
            <a:ext cx="274320" cy="274320"/>
          </a:xfrm>
          <a:prstGeom prst="rect">
            <a:avLst/>
          </a:prstGeom>
          <a:solidFill>
            <a:srgbClr val="E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187451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36"/>
                </a:solidFill>
                <a:latin typeface="Calibri"/>
              </a:rPr>
              <a:t>Phase 1  (Now)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20370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Working prototype -- presented today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926079"/>
            <a:ext cx="19050" cy="438912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2660903"/>
            <a:ext cx="274320" cy="274320"/>
          </a:xfrm>
          <a:prstGeom prst="rect">
            <a:avLst/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57860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907791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Real OTP via Twilio / WhatsApp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630167"/>
            <a:ext cx="19050" cy="438912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364991"/>
            <a:ext cx="274320" cy="274320"/>
          </a:xfrm>
          <a:prstGeom prst="rect">
            <a:avLst/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28269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361187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OSRM real routing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334255"/>
            <a:ext cx="19050" cy="438912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069079"/>
            <a:ext cx="274320" cy="274320"/>
          </a:xfrm>
          <a:prstGeom prst="rect">
            <a:avLst/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98678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31596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Live GPS via driver mobile app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5038343"/>
            <a:ext cx="19050" cy="438912"/>
          </a:xfrm>
          <a:prstGeom prst="rect">
            <a:avLst/>
          </a:prstGeom>
          <a:solidFill>
            <a:srgbClr val="E0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4773167"/>
            <a:ext cx="274320" cy="274320"/>
          </a:xfrm>
          <a:prstGeom prst="rect">
            <a:avLst/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469087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Phase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5020055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Razorpay payment &amp; escrow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5477255"/>
            <a:ext cx="274320" cy="274320"/>
          </a:xfrm>
          <a:prstGeom prst="rect">
            <a:avLst/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3949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4"/>
                </a:solidFill>
                <a:latin typeface="Calibri"/>
              </a:rPr>
              <a:t>Phase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72414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4"/>
                </a:solidFill>
                <a:latin typeface="Calibri"/>
              </a:rPr>
              <a:t>Pilot: 50 truckers, Punjab-Delhi corridor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1274552" cy="50292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358384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084"/>
                </a:solidFill>
                <a:latin typeface="Calibri"/>
              </a:rPr>
              <a:t>Assumptions being tested:  Is the bilingual flow intuitive for truck operators? Is the fare estimate trusted without a broker? Can shippers track without calling?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97880"/>
            <a:ext cx="11274552" cy="7315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989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TruckSaathi TripSmart  --  Connecting India's Truckers, One Load at a 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053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084"/>
                </a:solidFill>
                <a:latin typeface="Calibri"/>
              </a:rPr>
              <a:t>MHN 205  |  Tutorial Activity 2  | 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